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916" r:id="rId1"/>
  </p:sldMasterIdLst>
  <p:notesMasterIdLst>
    <p:notesMasterId r:id="rId25"/>
  </p:notesMasterIdLst>
  <p:sldIdLst>
    <p:sldId id="448" r:id="rId2"/>
    <p:sldId id="450" r:id="rId3"/>
    <p:sldId id="360" r:id="rId4"/>
    <p:sldId id="359" r:id="rId5"/>
    <p:sldId id="261" r:id="rId6"/>
    <p:sldId id="362" r:id="rId7"/>
    <p:sldId id="265" r:id="rId8"/>
    <p:sldId id="269" r:id="rId9"/>
    <p:sldId id="451" r:id="rId10"/>
    <p:sldId id="454" r:id="rId11"/>
    <p:sldId id="470" r:id="rId12"/>
    <p:sldId id="469" r:id="rId13"/>
    <p:sldId id="468" r:id="rId14"/>
    <p:sldId id="457" r:id="rId15"/>
    <p:sldId id="471" r:id="rId16"/>
    <p:sldId id="474" r:id="rId17"/>
    <p:sldId id="472" r:id="rId18"/>
    <p:sldId id="473" r:id="rId19"/>
    <p:sldId id="475" r:id="rId20"/>
    <p:sldId id="476" r:id="rId21"/>
    <p:sldId id="477" r:id="rId22"/>
    <p:sldId id="447" r:id="rId23"/>
    <p:sldId id="44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44" autoAdjust="0"/>
    <p:restoredTop sz="87755" autoAdjust="0"/>
  </p:normalViewPr>
  <p:slideViewPr>
    <p:cSldViewPr snapToGrid="0">
      <p:cViewPr varScale="1">
        <p:scale>
          <a:sx n="64" d="100"/>
          <a:sy n="64" d="100"/>
        </p:scale>
        <p:origin x="13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8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9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9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591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29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DDE1-4B9A-4DD4-A1FE-0EDBBCF82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9AB1A-FE0E-47D2-ACDF-D60FC6C42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F70E0-F5D7-4E0F-B8BC-65440CA06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B20F1-FF0C-4701-9906-BABBEAA93A7C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F094F-B512-48A2-9B16-EBCA5D2E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B9677-A2F8-4574-9266-458EE064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A50F-AB7E-4BFA-844E-3F35EBD80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BB50B-378E-4A4D-B062-2C4E0FBC2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7AF64-F660-489B-AC98-24BB874E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65491-2169-4F91-9681-9556EF089CF8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8EFAF-A752-4898-BD3C-2325608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055CB-E910-4112-B685-070F03B96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2AED-C1A6-44EF-BF14-6553DF739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916A3-4A5B-4BAC-BEDF-DBA7BC053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046B2-55F6-4C31-974E-43C8206E7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2F21-EC99-40E6-803F-4D947A808C09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BFCC7-9C94-4F89-9208-A08CF795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E7AD0-F063-418C-BB54-D84BF7F4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6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732E-E928-4230-985C-6EA2A6D6E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81F21-E0F5-41D8-8C85-A8D67EF52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E1BC7-2982-4B31-B791-DD0AA8755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C231C-6F6D-407F-B52B-CDF125DF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9ED57-3857-4524-8216-2B71E1C85792}" type="datetime1">
              <a:rPr lang="en-US" smtClean="0"/>
              <a:t>03-Dec-24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FD909-AC93-4BC8-902A-EB7BE785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BE36A-260B-451C-9FD4-E32F7844F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9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FEC8B-94C6-4A9D-B5BD-307ADD3A4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5D74D-94A5-4E1A-891B-F44CF74F2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B43FE-F4FF-4B6D-869F-F3272AA07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1C827A-C4FC-4077-9C40-D5AAC5BFD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73F8A3-87BB-4243-B9A7-4DE8D6A3C4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25A90-D486-40F3-A38C-6184A09F0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F98D-E409-45A9-8658-CF3969B11C02}" type="datetime1">
              <a:rPr lang="en-US" smtClean="0"/>
              <a:t>03-Dec-24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46F242-5201-4AEB-BC8F-078CDD0F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D37DB7-5D58-4936-8211-F1CE86CE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18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BC1C6-EED6-4C31-995E-063BC1F20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A3539-BB52-4300-B56C-681361A1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7033-CA98-4537-B81A-80CEFB3026E6}" type="datetime1">
              <a:rPr lang="en-US" smtClean="0"/>
              <a:t>03-Dec-24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60900-485D-466E-875E-EDF80A9C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6723A-E42E-4EC9-BA2A-396B1DBD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9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EC5F8C-0D02-4B5C-8C54-8E3F9A8BA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696A-D673-46D2-9977-BFE502D600E1}" type="datetime1">
              <a:rPr lang="en-US" smtClean="0"/>
              <a:t>03-Dec-24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F3E58A-C366-4C15-8228-7C2B67106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C230C-15D0-4F17-B687-77BDD44C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58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26E5-454B-4E9A-A4E9-E71960A23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4A965-8B98-4AD9-9BDC-BAA3CD450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427E5-0D41-45F8-A189-4B4967279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48291-358F-48FB-92A8-832F3061F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F827-6185-49AD-BF05-314ACB17DB16}" type="datetime1">
              <a:rPr lang="en-US" smtClean="0"/>
              <a:t>03-Dec-24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4F725-33AF-4A96-9485-10643C9E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4B5FA-E7B2-4E40-9A1C-9C084896A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7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AB70-4708-4DCC-A1A7-1D7F651C0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50001B-78C2-4275-AE47-C1FA02B82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8FB0A-BEFA-4DF7-9044-AEF30C5CA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90CA3-68DF-4B4D-A151-66522904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C29AE-BFBC-4559-905F-F638E03C2DE2}" type="datetime1">
              <a:rPr lang="en-US" smtClean="0"/>
              <a:t>03-Dec-24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35A77-AAC4-4F2D-9199-A273F5A0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D2D05-BCF0-44E3-A650-52767E6BF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78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A71A8-2D9F-438E-BA45-EFE8DC7CB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C67ED-B468-4D29-95C1-0DD63B2CA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7DD85-53D9-484D-B040-5358BF1B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183FC-D596-484D-BB33-777764C97135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7028F-39BE-4D7F-BE90-463A133CA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72B04-C10B-410A-B7E2-D433A535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44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260838-FD23-45AB-8E27-029BB0E73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50C74-9BB3-4738-9F90-1B6D720D2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D93B0-28D8-4DB0-8510-7272FA066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44EB3-EA81-437A-B07A-0D69F5C5E2FC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D9FB1-7BE3-490A-9D6B-2CEE70F7C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BFA6C-9447-469F-8CC1-482EBBA4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78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42A922-7765-43F4-A34A-E161B18B5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F4B1A-9DB3-444B-9947-AA8E6B85A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27438-FD94-4899-898A-CF55BCB2B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CB559-D485-4787-8080-37B756BC7D8C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3F6E4-A289-466B-8143-9D195AD29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9E660-F6FA-45C6-ABCC-7882BDEAE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F240C-C2F9-43CB-9EF2-2BE270F7A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7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932" y="323035"/>
            <a:ext cx="11517702" cy="6033315"/>
          </a:xfrm>
        </p:spPr>
        <p:txBody>
          <a:bodyPr>
            <a:normAutofit fontScale="77500" lnSpcReduction="20000"/>
          </a:bodyPr>
          <a:lstStyle/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                   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marR="0" indent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1657350" algn="l"/>
              </a:tabLs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600" b="1" dirty="0"/>
              <a:t>;-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ASSESSMENT OF OPERATIONAL CHALLENGE OF INTEREST-FREE BANKING AND ITS OPPORTUNITY IN </a:t>
            </a:r>
            <a:endParaRPr lang="en-US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 marL="0" marR="0" indent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165735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 CASE OF HIJIRA BANK ADAMA, ETHIOPIA)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165735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MARKETING MANAGEMENT</a:t>
            </a:r>
            <a:endParaRPr lang="en-US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tabLst>
                <a:tab pos="1657350" algn="l"/>
              </a:tabLst>
            </a:pPr>
            <a:endParaRPr lang="en-US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BY: JALANE BALI AND HIWOT FEKENE</a:t>
            </a:r>
          </a:p>
          <a:p>
            <a:pPr marL="0" indent="0">
              <a:buNone/>
            </a:pPr>
            <a:endParaRPr lang="en-US" sz="2400" b="1" dirty="0"/>
          </a:p>
          <a:p>
            <a:pPr marL="0" marR="0" indent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165735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ADVISER: FITSUM TAMRU</a:t>
            </a:r>
          </a:p>
          <a:p>
            <a:pPr marL="0" marR="0" indent="0" algn="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165735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Dec, 2024</a:t>
            </a:r>
          </a:p>
          <a:p>
            <a:pPr marL="0" marR="0" indent="0" algn="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165735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ADAMA, ETHIOPIA</a:t>
            </a:r>
            <a:endParaRPr lang="en-US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sz="2000" b="1" dirty="0"/>
              <a:t>                                       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018E2-4E32-4BA1-97B7-D7022F3DF55F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B6D52C-02EA-490C-B22D-0C4CE4B196D8}"/>
              </a:ext>
            </a:extLst>
          </p:cNvPr>
          <p:cNvPicPr/>
          <p:nvPr/>
        </p:nvPicPr>
        <p:blipFill>
          <a:blip r:embed="rId2" cstate="print"/>
          <a:srcRect/>
          <a:stretch/>
        </p:blipFill>
        <p:spPr>
          <a:xfrm>
            <a:off x="4123544" y="323035"/>
            <a:ext cx="2519680" cy="193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059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814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</a:t>
            </a:r>
            <a:r>
              <a:rPr lang="en-US" b="1" dirty="0"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68" y="1035170"/>
            <a:ext cx="10939732" cy="5435533"/>
          </a:xfrm>
        </p:spPr>
        <p:txBody>
          <a:bodyPr>
            <a:no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v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v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v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METHODS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AND MATERIAL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v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</a:t>
            </a:r>
            <a:r>
              <a:rPr lang="en-US" sz="2000" dirty="0"/>
              <a:t> AND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 lv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v"/>
              <a:defRPr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ACKNOWLWDGMENT</a:t>
            </a:r>
            <a:endParaRPr lang="en-US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8741-9612-4C1C-80A3-1339EBD51FD5}" type="datetime1">
              <a:rPr lang="en-US" smtClean="0"/>
              <a:t>03-Dec-24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52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3311" y="585216"/>
            <a:ext cx="9720072" cy="73304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8260"/>
            <a:ext cx="10515600" cy="4859020"/>
          </a:xfrm>
        </p:spPr>
        <p:txBody>
          <a:bodyPr>
            <a:normAutofit fontScale="82500" lnSpcReduction="20000"/>
          </a:bodyPr>
          <a:lstStyle/>
          <a:p>
            <a:r>
              <a:rPr lang="en-US" b="1" dirty="0"/>
              <a:t>Definition and Global Context: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Interest-Free Banking (IFB)</a:t>
            </a:r>
            <a:r>
              <a:rPr lang="en-US" dirty="0"/>
              <a:t>: Operates per Sharia law principles, focusing on ethical and non-interest-based financial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Global Growth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Over $2 trillion in assets.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Nearly 600 institutions worldwide.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Represents ~6% of total global banking assets.</a:t>
            </a:r>
          </a:p>
          <a:p>
            <a:r>
              <a:rPr lang="en-US" b="1" dirty="0"/>
              <a:t>Ethiopian Context: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Muslim Population</a:t>
            </a:r>
            <a:r>
              <a:rPr lang="en-US" dirty="0"/>
              <a:t>: ~34% of the population (CSA, 2007).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Initial Challenges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Lack of Sharia-compliant products caused financial exclusion.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legal framework for Islamic banking before 2008.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Legislation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Proclamation 592/2008</a:t>
            </a:r>
            <a:r>
              <a:rPr lang="en-US" dirty="0"/>
              <a:t>: Enabled Islamic finance introduction.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Directive SBB/51/2011: Allowed window-based IFB by conventional banks.</a:t>
            </a:r>
          </a:p>
          <a:p>
            <a:pPr>
              <a:lnSpc>
                <a:spcPct val="100000"/>
              </a:lnSpc>
            </a:pPr>
            <a:endParaRPr lang="en-US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97459-BC93-4926-9BE5-05E0CEC7B95A}" type="datetime1">
              <a:rPr lang="en-US" smtClean="0"/>
              <a:t>03-Dec-24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555"/>
          </a:xfrm>
        </p:spPr>
        <p:txBody>
          <a:bodyPr/>
          <a:lstStyle/>
          <a:p>
            <a:r>
              <a:rPr lang="en-US"/>
              <a:t>cont...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835" y="1175385"/>
            <a:ext cx="10768965" cy="5001895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Growth and Current Status of IFBs in Ethiopia</a:t>
            </a:r>
          </a:p>
          <a:p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Milestones in IFB Development:</a:t>
            </a:r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Early Players</a:t>
            </a: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Oromia International Bank (December 2013).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Commercial Bank of Ethiopia (February 2014).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Expansion</a:t>
            </a: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By 2023, 32 banks (2 state-owned, 26 private) offering window-based IFB services.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Directive SBB/72/2019 enabled the establishment of full-fledged IFBs.</a:t>
            </a:r>
          </a:p>
          <a:p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Full-Fledged IFBs:</a:t>
            </a:r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Zamzam Bank</a:t>
            </a: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First to secure a license (October 2020).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Hijira</a:t>
            </a: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Bank</a:t>
            </a: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Licensed (January 2022).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Shebelle Bank</a:t>
            </a: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Licensed (January 2023).</a:t>
            </a:r>
          </a:p>
          <a:p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Current Landscape:</a:t>
            </a:r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Some conventional banks opened separate IFB branches.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Despite growth, IFB in Ethiopia remains in its infancy, requiring operational refinement and market adaptation.</a:t>
            </a:r>
          </a:p>
          <a:p>
            <a:pPr>
              <a:lnSpc>
                <a:spcPct val="100000"/>
              </a:lnSpc>
              <a:buFont typeface="Wingdings" panose="05000000000000000000" charset="0"/>
              <a:buChar char="v"/>
            </a:pPr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78F1-9E60-4B1F-BFBA-2D21986646AA}" type="datetime1">
              <a:rPr lang="en-US" smtClean="0"/>
              <a:t>03-Dec-24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838200" y="191135"/>
            <a:ext cx="10515600" cy="72517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F0"/>
                </a:solidFill>
              </a:rPr>
              <a:t>Statement of problem</a:t>
            </a: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>
          <a:xfrm>
            <a:off x="543560" y="1104900"/>
            <a:ext cx="10810240" cy="549465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Global Studies on Operational Challenges: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A. </a:t>
            </a:r>
            <a:r>
              <a:rPr lang="en-US" b="1" dirty="0" err="1">
                <a:solidFill>
                  <a:srgbClr val="FF0000"/>
                </a:solidFill>
              </a:rPr>
              <a:t>Mallum</a:t>
            </a:r>
            <a:r>
              <a:rPr lang="en-US" b="1" dirty="0">
                <a:solidFill>
                  <a:srgbClr val="FF0000"/>
                </a:solidFill>
              </a:rPr>
              <a:t> (2016)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Found challenges in </a:t>
            </a:r>
            <a:r>
              <a:rPr lang="en-US" b="1" dirty="0"/>
              <a:t>JIAZ International Bank</a:t>
            </a:r>
            <a:r>
              <a:rPr lang="en-US" dirty="0"/>
              <a:t> (Nigeria):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Legal, regulatory issues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Moral hazards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Manpower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Religion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Competition with conventional banks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Louis S. </a:t>
            </a:r>
            <a:r>
              <a:rPr lang="en-US" b="1" dirty="0" err="1">
                <a:solidFill>
                  <a:srgbClr val="FF0000"/>
                </a:solidFill>
              </a:rPr>
              <a:t>Nkwatoh</a:t>
            </a:r>
            <a:r>
              <a:rPr lang="en-US" b="1" dirty="0">
                <a:solidFill>
                  <a:srgbClr val="FF0000"/>
                </a:solidFill>
              </a:rPr>
              <a:t> &amp; A. </a:t>
            </a:r>
            <a:r>
              <a:rPr lang="en-US" b="1" dirty="0" err="1">
                <a:solidFill>
                  <a:srgbClr val="FF0000"/>
                </a:solidFill>
              </a:rPr>
              <a:t>Mallum</a:t>
            </a:r>
            <a:r>
              <a:rPr lang="en-US" b="1" dirty="0">
                <a:solidFill>
                  <a:srgbClr val="FF0000"/>
                </a:solidFill>
              </a:rPr>
              <a:t> (2018)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Confirmed similar challenges in Nigerian Islamic banks.</a:t>
            </a:r>
          </a:p>
          <a:p>
            <a:r>
              <a:rPr lang="en-US" b="1" dirty="0"/>
              <a:t>Challenges in Ethiopia: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Regulatory Gaps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Laws for conventional banks, not IFB-specific.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Operational Issues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Lack of </a:t>
            </a:r>
            <a:r>
              <a:rPr lang="en-US" b="1" dirty="0"/>
              <a:t>Sharia-compliant laws</a:t>
            </a:r>
            <a:r>
              <a:rPr lang="en-US" dirty="0"/>
              <a:t> and </a:t>
            </a:r>
            <a:r>
              <a:rPr lang="en-US" b="1" dirty="0"/>
              <a:t>trained personnel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Legal environment</a:t>
            </a:r>
            <a:r>
              <a:rPr lang="en-US" dirty="0"/>
              <a:t> unsuitable for IFBs.</a:t>
            </a:r>
          </a:p>
          <a:p>
            <a:pPr>
              <a:lnSpc>
                <a:spcPct val="100000"/>
              </a:lnSpc>
              <a:buFont typeface="Wingdings" panose="05000000000000000000" charset="0"/>
              <a:buChar char="v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A16F1-53F1-4E64-A02C-9086CB391B13}" type="datetime1">
              <a:rPr lang="en-US" smtClean="0"/>
              <a:t>03-Dec-24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880"/>
          </a:xfrm>
        </p:spPr>
        <p:txBody>
          <a:bodyPr>
            <a:normAutofit fontScale="90000"/>
          </a:bodyPr>
          <a:lstStyle/>
          <a:p>
            <a:r>
              <a:rPr lang="en-US"/>
              <a:t>cont...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B777-9004-48DE-BE0D-ED7DA707FDF9}" type="datetime1">
              <a:rPr lang="en-US" smtClean="0"/>
              <a:t>03-Dec-24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6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31D16B7-AC97-4264-AF0B-F947EBBBAD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5001"/>
            <a:ext cx="105156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Ethiopia: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Legal and regulatory framework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Manpower shortage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Competition with conventional banks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Focus: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challenges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IFBs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Hijira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focusing on: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Regulatory gaps,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needs,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competition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233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F0"/>
                </a:solidFill>
              </a:rPr>
              <a:t>Significance of The Study</a:t>
            </a: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631190" y="1227455"/>
            <a:ext cx="10515600" cy="499681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&amp; Academic Contribution: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Fulfill academic requirements for BA degree in Accounting &amp; Finance.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Impact: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Hijira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Bank understand operational challenges and opportunities.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 devising strategies to improve performance and stay competitive.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Researcher’s Contribution: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relationship between challenges and opportunities.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solutions for financial institutions and regulatory bodies.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Aids in formulating policy frameworks to improve the industry.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6EC8-EAFD-4F7A-A6BB-CA9479F9D029}" type="datetime1">
              <a:rPr lang="en-US" smtClean="0"/>
              <a:t>03-Dec-24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838200" y="151075"/>
            <a:ext cx="10515600" cy="71561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F0"/>
                </a:solidFill>
              </a:rPr>
              <a:t>Objective</a:t>
            </a:r>
            <a:r>
              <a:rPr lang="en-US" b="1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1048615" name="Content Placeholder 2"/>
          <p:cNvSpPr>
            <a:spLocks noGrp="1"/>
          </p:cNvSpPr>
          <p:nvPr>
            <p:ph idx="1"/>
          </p:nvPr>
        </p:nvSpPr>
        <p:spPr>
          <a:xfrm>
            <a:off x="838200" y="1077871"/>
            <a:ext cx="10515600" cy="5067300"/>
          </a:xfrm>
        </p:spPr>
        <p:txBody>
          <a:bodyPr>
            <a:normAutofit fontScale="92500"/>
          </a:bodyPr>
          <a:lstStyle/>
          <a:p>
            <a:pPr marL="0" marR="0" indent="0" algn="just">
              <a:lnSpc>
                <a:spcPct val="11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General Objective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marR="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The general objective of this study was to assess the operational challenge of interest-free banking and its opportunity in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Hijira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Bank.</a:t>
            </a:r>
          </a:p>
          <a:p>
            <a:pPr marL="0" marR="0" indent="0" algn="just">
              <a:lnSpc>
                <a:spcPct val="11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Specific Objectives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"/>
              <a:tabLst>
                <a:tab pos="2667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evaluate the challenge of the legal and regulatory system on IFB operation in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Hijira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Bank.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"/>
              <a:tabLst>
                <a:tab pos="2667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evaluate the challenges of limited market and products on IFB operation in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Hijira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Bank.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"/>
              <a:tabLst>
                <a:tab pos="2667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evaluate the lack of Sharia experts and manpower on IFB operation in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Hijira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Bank.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"/>
              <a:tabLst>
                <a:tab pos="2667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analyze the possible contribution of IFB to the economic development of the country.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Sun" panose="02010600030101010101" pitchFamily="2" charset="-122"/>
            </a:endParaRPr>
          </a:p>
          <a:p>
            <a:pPr>
              <a:lnSpc>
                <a:spcPct val="110000"/>
              </a:lnSpc>
            </a:pP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57151-217A-41E8-9FE9-6E93CBB5ED57}" type="datetime1">
              <a:rPr lang="en-US" smtClean="0"/>
              <a:t>03-Dec-24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7110F-8CC7-4645-8AD7-509D232B2C41}" type="datetime1">
              <a:rPr lang="en-US" smtClean="0"/>
              <a:t>03-Dec-24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38955"/>
              </p:ext>
            </p:extLst>
          </p:nvPr>
        </p:nvGraphicFramePr>
        <p:xfrm>
          <a:off x="116733" y="369331"/>
          <a:ext cx="11694267" cy="4705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9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4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4908">
                <a:tc>
                  <a:txBody>
                    <a:bodyPr/>
                    <a:lstStyle/>
                    <a:p>
                      <a:r>
                        <a:rPr lang="en-US" dirty="0"/>
                        <a:t>study area, 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Research Approach</a:t>
                      </a:r>
                      <a:r>
                        <a:rPr lang="en-US" dirty="0"/>
                        <a:t> and 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Research Design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Font typeface="Wingdings" panose="05000000000000000000" charset="0"/>
                        <a:buChar char="ü"/>
                      </a:pPr>
                      <a:r>
                        <a:rPr lang="en-US" dirty="0"/>
                        <a:t>The study was conducted at Hijra Bank's </a:t>
                      </a:r>
                      <a:r>
                        <a:rPr lang="en-US" dirty="0" err="1"/>
                        <a:t>Adama</a:t>
                      </a:r>
                      <a:r>
                        <a:rPr lang="en-US" dirty="0"/>
                        <a:t> branches. It employed a quantitative research approach and a descriptive research design.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376">
                <a:tc>
                  <a:txBody>
                    <a:bodyPr/>
                    <a:lstStyle/>
                    <a:p>
                      <a:pPr marL="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Target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anose="05000000000000000000" charset="0"/>
                        <a:buNone/>
                      </a:pPr>
                      <a:r>
                        <a:rPr lang="en-US" dirty="0"/>
                        <a:t>The target population includes 25 employees from Hijra Bank's </a:t>
                      </a:r>
                      <a:r>
                        <a:rPr lang="en-US" dirty="0" err="1"/>
                        <a:t>Adama</a:t>
                      </a:r>
                      <a:r>
                        <a:rPr lang="en-US" dirty="0"/>
                        <a:t> branches, </a:t>
                      </a:r>
                      <a:r>
                        <a:rPr lang="en-US" dirty="0" err="1"/>
                        <a:t>Jaamia</a:t>
                      </a:r>
                      <a:r>
                        <a:rPr lang="en-US" dirty="0"/>
                        <a:t> and </a:t>
                      </a:r>
                      <a:r>
                        <a:rPr lang="en-US" dirty="0" err="1"/>
                        <a:t>Mebrat</a:t>
                      </a:r>
                      <a:r>
                        <a:rPr lang="en-US" dirty="0"/>
                        <a:t>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1971">
                <a:tc>
                  <a:txBody>
                    <a:bodyPr/>
                    <a:lstStyle/>
                    <a:p>
                      <a:pPr marL="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charset="0"/>
                        <a:buChar char="v"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Sample Technique And Sample Size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Font typeface="Wingdings" panose="05000000000000000000" charset="0"/>
                        <a:buChar char="ü"/>
                      </a:pPr>
                      <a:r>
                        <a:rPr lang="en-US" dirty="0"/>
                        <a:t>Census sampling was used due to the small employee size, ensuring managers and officers provide comprehensive operational insights.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49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Font typeface="Wingdings" panose="05000000000000000000" charset="0"/>
                        <a:buChar char="v"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Source of Data and Data Collection Tool</a:t>
                      </a:r>
                      <a:endParaRPr lang="en-US" sz="18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data was collected from Hijra Bank employees, including managers, senior staff, and customer service officers, using structured questionnaires.</a:t>
                      </a:r>
                    </a:p>
                    <a:p>
                      <a:pPr lvl="0">
                        <a:lnSpc>
                          <a:spcPct val="100000"/>
                        </a:lnSpc>
                        <a:buFont typeface="Wingdings" panose="05000000000000000000" charset="0"/>
                        <a:buChar char="ü"/>
                      </a:pP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94267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 of Data Collection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  </a:t>
                      </a:r>
                      <a:r>
                        <a:rPr lang="en-US" dirty="0"/>
                        <a:t>Data was collected using self-administered structured questionnaires (primary data) and secondary sources like books, bulletins, and National Bank reports.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799717"/>
              </p:ext>
            </p:extLst>
          </p:nvPr>
        </p:nvGraphicFramePr>
        <p:xfrm>
          <a:off x="5481638" y="3241675"/>
          <a:ext cx="122713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Worksheet" r:id="rId3" imgW="1226621" imgH="373252" progId="Excel.Sheet.12">
                  <p:embed/>
                </p:oleObj>
              </mc:Choice>
              <mc:Fallback>
                <p:oleObj name="Worksheet" r:id="rId3" imgW="1226621" imgH="37325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81638" y="3241675"/>
                        <a:ext cx="1227137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680936" y="0"/>
            <a:ext cx="67471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METHOD AND MATERIALS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705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757" y="166927"/>
            <a:ext cx="9720072" cy="655454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1EA9-7882-4371-A491-4852A9B2C2FB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73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2FFF0-A7AC-41A5-9BC1-8433AFD3F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Response</a:t>
            </a:r>
            <a:r>
              <a:rPr lang="en-US" sz="4400" b="1" spc="-6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4400" b="1" spc="-2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rate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BCBD3-8A04-45AF-AFBC-213056F2A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aimed to identify operational challenges and opportunities of Interest-Free Banking (IFB) in Ethiopia. Data were collected through questionnaires and secondary sources, with a 97% response rate from 20 employees at Hijra Bank. Descriptive analysis, including frequency, percentage, and reliability tests, was applied to analyze the data.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B8BB1-B8D3-4580-B8F1-12CA647A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33FE-293E-4693-B7EA-9A1A46D06A5C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25BB0-649B-4388-A758-71DC5C791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4A97A-0B34-4ED2-9E72-795F3C0F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6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89-94B4-4A51-BCD9-73BE77E8A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Demographic</a:t>
            </a:r>
            <a:r>
              <a:rPr lang="en-US" sz="2800" b="1" spc="-3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Profile</a:t>
            </a:r>
            <a:r>
              <a:rPr lang="en-US" sz="2800" b="1" spc="-4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of</a:t>
            </a:r>
            <a:r>
              <a:rPr lang="en-US" sz="2800" b="1" spc="-3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spc="-1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Respondents</a:t>
            </a:r>
            <a:endParaRPr lang="en-US" sz="60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2E982-3948-4968-81C3-3B9C4CC6C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Out of 20 respondents, 12 (60%) were male and 8 (40%) were female, indicating male dominance in the sector.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Majority (75%) of employees are aged between 25-35 years.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Most respondents (75%) hold a Bachelor's degree, with 25% holding a Master's degree.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Customer Service Officers comprise 80% of respondents, with 10% from senior and managerial levels.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ACC58-A3D9-49C6-8CC9-7703F8B5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93C7-FED7-4615-AD6B-4FA736363B11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F003A-DFC9-4190-A307-6BD0E96B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F99D9-62A5-45EA-A059-251E150A3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34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FAAF-0DC0-4054-BE43-A34B2CB49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4.3 Description</a:t>
            </a:r>
            <a:r>
              <a:rPr lang="en-US" sz="3600" b="1" spc="-6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of</a:t>
            </a:r>
            <a:r>
              <a:rPr lang="en-US" sz="3600" b="1" spc="-4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Independent</a:t>
            </a:r>
            <a:r>
              <a:rPr lang="en-US" sz="3600" b="1" spc="-4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Variables</a:t>
            </a:r>
            <a:r>
              <a:rPr lang="en-US" sz="3600" b="1" spc="-5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spc="-1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(IVs)</a:t>
            </a:r>
            <a:br>
              <a:rPr lang="en-US" sz="1800" b="1" dirty="0"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</a:br>
            <a:endParaRPr lang="en-US" sz="6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14761-17F7-4FE3-B85D-F330CF1E2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strongly disagree, 40% disagree on IFB's lack of an effective supervisory framework, indicating it's not a major challenge.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35% agree and 20% strongly agree on the lack of effective prudential regulation in IFB.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 strongly agree that IFB lacks their own practices and procedures for banking activities.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45% strongly agree that Shariah boards present unique operational challenges to IFB governance.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57158-1A6D-4390-85EF-55DAA1FDA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90B2-803A-4BC0-95C7-534A397A4DD8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B029C-BF9E-4320-820D-EBF5D35E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03E4B-92FD-4236-83B5-A06232373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1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1454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Limited</a:t>
            </a:r>
            <a:r>
              <a:rPr lang="en-US" sz="2800" b="1" spc="-5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Market-</a:t>
            </a:r>
            <a:r>
              <a:rPr lang="en-US" sz="2800" b="1" spc="-4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Based</a:t>
            </a:r>
            <a:r>
              <a:rPr lang="en-US" sz="2800" b="1" spc="-4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Financial</a:t>
            </a:r>
            <a:r>
              <a:rPr lang="en-US" sz="2800" b="1" spc="-5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Intermediations</a:t>
            </a:r>
            <a:r>
              <a:rPr lang="en-US" sz="2800" b="1" spc="-5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and</a:t>
            </a:r>
            <a:r>
              <a:rPr lang="en-US" sz="2800" b="1" spc="-4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2800" b="1" spc="-1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Products</a:t>
            </a:r>
            <a:endParaRPr lang="en-US" sz="60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6502"/>
            <a:ext cx="10515600" cy="498046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55% strongly disagree and 20% disagree that IFB products are limited compared to conventional banks, indicating sufficient products exist but legal/regulatory issues are a barrier.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strongly disagree and 40% disagree that IFB faces liquidity problems due to underdeveloped money markets and STI shortages, suggesting it's not a major challenge.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BB973-162E-4A84-B02B-702242420DA5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79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F521-A000-4DEA-B33B-9892EB2E9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err="1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Sharia'a</a:t>
            </a:r>
            <a:r>
              <a:rPr lang="en-US" sz="3600" spc="-3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Experts</a:t>
            </a:r>
            <a:r>
              <a:rPr lang="en-US" sz="3600" spc="-3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and</a:t>
            </a:r>
            <a:r>
              <a:rPr lang="en-US" sz="3600" spc="-25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Man</a:t>
            </a:r>
            <a:r>
              <a:rPr lang="en-US" sz="3600" spc="-3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spc="-2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power</a:t>
            </a:r>
            <a:endParaRPr lang="en-US" sz="72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DDABF-32E2-46D1-B98D-967AB34BC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 of respondents strongly agree that there is a lack of Sharia experts and skilled manpower in IFB, hindering the understanding of moral, religious, and technological implications.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 agree that IFB has expertise for R&amp;D, but some remain neutral.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strongly agree that efficient Sharia experts and manpower are essential for IFB's growth and survival.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agree that IFB faces chronic issues with expertise in Sharia-compliant services.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disagree that IFB faces challenges in developing innovative services due to lack of trained employees, indicating a need for specialized training.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B291D-26F7-4EC6-BEA3-C349F9C8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2684A-07B4-403F-B22F-D5DBC1C25D15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831C1-10C9-473F-8C42-92BD590DC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7F46C-5017-4F5F-94FD-FA6E5E93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74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6F6D4-8000-4B8C-8B03-52D2EA9E5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Misunderstanding</a:t>
            </a:r>
            <a:r>
              <a:rPr lang="en-US" sz="3600" b="1" spc="-4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and</a:t>
            </a:r>
            <a:r>
              <a:rPr lang="en-US" sz="3600" b="1" spc="-2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Lack</a:t>
            </a:r>
            <a:r>
              <a:rPr lang="en-US" sz="3600" b="1" spc="-2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of</a:t>
            </a:r>
            <a:r>
              <a:rPr lang="en-US" sz="3600" b="1" spc="-2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Standardization</a:t>
            </a:r>
            <a:r>
              <a:rPr lang="en-US" sz="3600" b="1" spc="-25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of</a:t>
            </a:r>
            <a:r>
              <a:rPr lang="en-US" sz="3600" b="1" spc="-2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Islamic</a:t>
            </a:r>
            <a:r>
              <a:rPr lang="en-US" sz="3600" b="1" spc="-2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Financial</a:t>
            </a:r>
            <a:r>
              <a:rPr lang="en-US" sz="3600" b="1" spc="-25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Concept </a:t>
            </a:r>
            <a:br>
              <a:rPr lang="en-US" sz="36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</a:br>
            <a:endParaRPr lang="en-US" sz="7200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D9746-2A21-4A49-8AAA-E6D327C5F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80% strongly agree and 20% agree that they understand how IFB products work.</a:t>
            </a:r>
          </a:p>
          <a:p>
            <a:pPr algn="just"/>
            <a:r>
              <a:rPr lang="en-US" dirty="0"/>
              <a:t>85% strongly agree and 15% agree that they understand why interest is prohibited in Islamic banking and its harmful impacts.</a:t>
            </a:r>
          </a:p>
          <a:p>
            <a:pPr algn="just"/>
            <a:r>
              <a:rPr lang="en-US" dirty="0"/>
              <a:t>55% are neutral on whether Ethiopia lacks knowledge of IFB, with 25% agreeing and 20% strongly agreeing.</a:t>
            </a:r>
          </a:p>
          <a:p>
            <a:pPr algn="just"/>
            <a:r>
              <a:rPr lang="en-US" dirty="0"/>
              <a:t>50% agree and 20% strongly agree that public education campaigns are ineffective in spreading awareness about IFB in Ethiopia.</a:t>
            </a:r>
          </a:p>
          <a:p>
            <a:pPr algn="just"/>
            <a:r>
              <a:rPr lang="en-US" dirty="0"/>
              <a:t>80% agree and 20% strongly agree that Ethiopia faces challenges in developing IFB due to weak public awareness.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09B48-346F-41A4-9AAD-7E1F2BB1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89A0-0300-49B7-AD96-97B0CCEFA7D9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3BF7D-C3BC-419A-98EF-9121E2B8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E1180-3617-4407-84CB-8FD43E0A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12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C9B47-E005-4228-92DC-0778289E8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Opportunities</a:t>
            </a:r>
            <a:r>
              <a:rPr lang="en-US" sz="3600" b="1" spc="-4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of</a:t>
            </a:r>
            <a:r>
              <a:rPr lang="en-US" sz="3600" b="1" spc="-4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Interest</a:t>
            </a:r>
            <a:r>
              <a:rPr lang="en-US" sz="3600" b="1" spc="-4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free</a:t>
            </a:r>
            <a:r>
              <a:rPr lang="en-US" sz="3600" b="1" spc="-3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banking</a:t>
            </a:r>
            <a:r>
              <a:rPr lang="en-US" sz="3600" b="1" spc="-4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in</a:t>
            </a:r>
            <a:r>
              <a:rPr lang="en-US" sz="3600" b="1" spc="-4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sz="3600" b="1" spc="-1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Ethiopia</a:t>
            </a:r>
            <a:b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53F4E-E936-4460-941A-530353F08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75% strongly agree that IFB is a flexible system and easy to adopt, while 25% agree.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75% strongly agree and 15% agree that IFB has a strong setup for product development.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80% strongly agree that Islamic banks have a good system for risk management.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50% strongly agree and 50% agree that there is a regular reporting system for risk management.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100% strongly agree that IFB contributes to the economic growth of Ethiopia.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25419-AD7A-4FB2-9451-99EBA822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2B653-B50F-473A-B7EF-EEF1A8ADC54F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50551-9351-423A-A7E6-8340BE1E2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57726-64D6-4AAC-9CB5-1244E207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13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FF4B4-E0EF-43FC-A165-2FBE5FFCF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9646"/>
            <a:ext cx="10515600" cy="5637317"/>
          </a:xfrm>
        </p:spPr>
        <p:txBody>
          <a:bodyPr/>
          <a:lstStyle/>
          <a:p>
            <a:pPr algn="ctr"/>
            <a:endParaRPr lang="en-US" sz="1800" b="1" kern="0" dirty="0">
              <a:effectLst/>
              <a:latin typeface="Times New Roman" panose="02020603050405020304" pitchFamily="18" charset="0"/>
              <a:cs typeface="SimSun" panose="02010600030101010101" pitchFamily="2" charset="-122"/>
            </a:endParaRPr>
          </a:p>
          <a:p>
            <a:pPr algn="ctr"/>
            <a:endParaRPr lang="en-US" sz="1800" b="1" kern="0" dirty="0">
              <a:latin typeface="Times New Roman" panose="02020603050405020304" pitchFamily="18" charset="0"/>
              <a:cs typeface="SimSun" panose="02010600030101010101" pitchFamily="2" charset="-122"/>
            </a:endParaRPr>
          </a:p>
          <a:p>
            <a:pPr algn="ctr"/>
            <a:endParaRPr lang="en-US" sz="1800" b="1" kern="0" dirty="0">
              <a:effectLst/>
              <a:latin typeface="Times New Roman" panose="02020603050405020304" pitchFamily="18" charset="0"/>
              <a:cs typeface="SimSun" panose="02010600030101010101" pitchFamily="2" charset="-122"/>
            </a:endParaRPr>
          </a:p>
          <a:p>
            <a:pPr algn="ctr"/>
            <a:endParaRPr lang="en-US" sz="1800" b="1" kern="0" dirty="0">
              <a:latin typeface="Times New Roman" panose="02020603050405020304" pitchFamily="18" charset="0"/>
              <a:cs typeface="SimSun" panose="02010600030101010101" pitchFamily="2" charset="-122"/>
            </a:endParaRPr>
          </a:p>
          <a:p>
            <a:pPr algn="ctr"/>
            <a:endParaRPr lang="en-US" sz="1800" b="1" kern="0" dirty="0">
              <a:effectLst/>
              <a:latin typeface="Times New Roman" panose="02020603050405020304" pitchFamily="18" charset="0"/>
              <a:cs typeface="SimSun" panose="02010600030101010101" pitchFamily="2" charset="-122"/>
            </a:endParaRPr>
          </a:p>
          <a:p>
            <a:pPr marL="0" indent="0" algn="ctr">
              <a:buNone/>
            </a:pPr>
            <a:r>
              <a:rPr lang="en-US" b="1" kern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SUMMARY ,CONCLUSIONS</a:t>
            </a:r>
            <a:r>
              <a:rPr lang="en-US" b="1" kern="0" spc="-9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 </a:t>
            </a:r>
            <a:r>
              <a:rPr lang="en-US" b="1" kern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AND RECOMMENDATIONS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4EAC1-5133-4AFD-B5EA-CCCFE09F8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3AA9D-9E39-40DE-8BF0-7CCF2636D262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4B0CC-7FC4-466E-A018-941FEE57A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E42BD-0EFF-4B8A-B572-EC9B837B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50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E349-7648-470B-AB63-0A40B4CBD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Summery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14B30-02C7-40A4-AA96-681CFB91F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examined challenges and opportunities of Interest-Free Banking (IFB)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Ethiopia. Key challenges include misunderstanding, lack of standardization, and need for specialized regulation, while opportunities include economic growth and customer satisfaction.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1AB57-B0B3-45E4-B67D-CACBF57FF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2600-2816-492F-8840-5E82921C7B8E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8E212-9881-45ED-AFD9-85E00328E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CC758-733A-46C2-828E-DF3AC18F2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43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188E1-CC0D-4024-AFF8-686DAFDCE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kern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CONCLUSIONS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B9BC1-E6E1-4BDC-AF28-27BEE74D7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Operational Challenges of Interest-Free Banking in Ethiopia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Misunderstanding &amp; Lack of Standardization</a:t>
            </a:r>
            <a:r>
              <a:rPr lang="en-US" dirty="0"/>
              <a:t>: IFB concepts are unclear, often perceived as religious rather than financial.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Shortage of </a:t>
            </a:r>
            <a:r>
              <a:rPr lang="en-US" b="1" dirty="0" err="1"/>
              <a:t>Sharia'a</a:t>
            </a:r>
            <a:r>
              <a:rPr lang="en-US" b="1" dirty="0"/>
              <a:t> Experts</a:t>
            </a:r>
            <a:r>
              <a:rPr lang="en-US" dirty="0"/>
              <a:t>: Lack of qualified personnel and training centers in Islamic finance.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Legal &amp; Regulatory Framework</a:t>
            </a:r>
            <a:r>
              <a:rPr lang="en-US" dirty="0"/>
              <a:t>: Existing laws are based on conventional banking, unsuitable for IFB.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Limited Market-Based Products</a:t>
            </a:r>
            <a:r>
              <a:rPr lang="en-US" dirty="0"/>
              <a:t>: Lack of developed money markets and alternative liquidity options for IFB.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4CB15-C94D-4236-A9E8-AE8DB357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086B-2A3E-4594-A8FC-30093F9006A4}" type="datetime1">
              <a:rPr lang="en-US" smtClean="0"/>
              <a:t>03-Dec-24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0E4E1-CA44-4A3A-923C-A6297D6B1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90532-EBA4-4C3E-B118-AEA0D69A3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454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DB70-A537-4CD9-A143-682A7AF8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kern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SimSun" panose="02010600030101010101" pitchFamily="2" charset="-122"/>
              </a:rPr>
              <a:t>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8B8B5-E9BF-4EC6-AFF5-7C4CE9457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Recommendations for Enhancing Interest-Free Banking in Ethiopia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National Bank of Ethiopia (NBE)</a:t>
            </a:r>
            <a:r>
              <a:rPr lang="en-US" dirty="0"/>
              <a:t>: Adopt Islamic Financial Services Board (IFSB) standards for regulatory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Sharia’a</a:t>
            </a:r>
            <a:r>
              <a:rPr lang="en-US" b="1" dirty="0"/>
              <a:t> Experts &amp; Training</a:t>
            </a:r>
            <a:r>
              <a:rPr lang="en-US" dirty="0"/>
              <a:t>: Enhance training programs for IFB employees and the public.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Product Innovation</a:t>
            </a:r>
            <a:r>
              <a:rPr lang="en-US" dirty="0"/>
              <a:t>: Focus on innovation in Sharia-compliant financial products.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Public Awareness</a:t>
            </a:r>
            <a:r>
              <a:rPr lang="en-US" dirty="0"/>
              <a:t>: NBE and Shariah Board to intensify education and awareness campaigns.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Effective Supervision</a:t>
            </a:r>
            <a:r>
              <a:rPr lang="en-US" dirty="0"/>
              <a:t>: Strengthen prudential regulation and supervision for Islamic banks.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5EA8E-5AD6-4837-B9BE-AF735AAC0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E1795-1810-44DA-A55F-A271C30E2513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01587-E73B-4B78-BC9A-D6E8B3B09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FBA7-F080-4D58-85C7-5BDF5FA2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32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045" y="232914"/>
            <a:ext cx="10468155" cy="75049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F0"/>
                </a:solidFill>
              </a:rPr>
              <a:t>Acknowledgment</a:t>
            </a:r>
            <a:r>
              <a:rPr lang="en-US" sz="40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045" y="1199072"/>
            <a:ext cx="11309229" cy="51102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would like to thanks;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 UNIVERSITY COLLEGE BUSINESS FACULTY DEPARTMENT OF MANAGEMENT DEPARTMENT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Advisors;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Fitsum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Tamru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their constructive advice, support and valuable comments and suggestions through our work.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ll the participants and contributors who made this research possible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5A888-68F3-457A-95D5-298A69014DC6}" type="datetime1">
              <a:rPr lang="en-US" smtClean="0"/>
              <a:t>03-Dec-24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1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027045" y="1347470"/>
            <a:ext cx="6215380" cy="2500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4" name="Picture 3" descr="20240824_1603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" y="105410"/>
            <a:ext cx="12050395" cy="6245225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A9DF-1C43-435C-94E0-D6EC3A19A6E4}" type="datetime1">
              <a:rPr lang="en-US" smtClean="0"/>
              <a:t>03-Dec-24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40C-C2F9-43CB-9EF2-2BE270F7AC17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1105</TotalTime>
  <Words>1630</Words>
  <Application>Microsoft Office PowerPoint</Application>
  <PresentationFormat>Widescreen</PresentationFormat>
  <Paragraphs>219</Paragraphs>
  <Slides>23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Wingdings</vt:lpstr>
      <vt:lpstr>Office Theme</vt:lpstr>
      <vt:lpstr>Worksheet</vt:lpstr>
      <vt:lpstr>PowerPoint Presentation</vt:lpstr>
      <vt:lpstr>               Outline </vt:lpstr>
      <vt:lpstr>INTRODUCTION</vt:lpstr>
      <vt:lpstr>cont...</vt:lpstr>
      <vt:lpstr>Statement of problem</vt:lpstr>
      <vt:lpstr>cont...</vt:lpstr>
      <vt:lpstr>Significance of The Study</vt:lpstr>
      <vt:lpstr>Objective </vt:lpstr>
      <vt:lpstr>PowerPoint Presentation</vt:lpstr>
      <vt:lpstr>Result and Discussion</vt:lpstr>
      <vt:lpstr>Response rate</vt:lpstr>
      <vt:lpstr>Demographic Profile of Respondents</vt:lpstr>
      <vt:lpstr>4.3 Description of Independent Variables (IVs) </vt:lpstr>
      <vt:lpstr>Limited Market- Based Financial Intermediations and Products</vt:lpstr>
      <vt:lpstr>Sharia'a Experts and Man power</vt:lpstr>
      <vt:lpstr>Misunderstanding and Lack of Standardization of Islamic Financial Concept  </vt:lpstr>
      <vt:lpstr>Opportunities of Interest free banking in Ethiopia </vt:lpstr>
      <vt:lpstr>PowerPoint Presentation</vt:lpstr>
      <vt:lpstr>Summery </vt:lpstr>
      <vt:lpstr>CONCLUSIONS</vt:lpstr>
      <vt:lpstr>RECOMMENDATIONS</vt:lpstr>
      <vt:lpstr>Acknowledgment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ARSI UNIVERSITY</dc:title>
  <dc:creator>hp</dc:creator>
  <cp:lastModifiedBy>gemeda tolesa</cp:lastModifiedBy>
  <cp:revision>144</cp:revision>
  <dcterms:created xsi:type="dcterms:W3CDTF">2024-08-22T00:08:00Z</dcterms:created>
  <dcterms:modified xsi:type="dcterms:W3CDTF">2024-12-03T17:36:12Z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bddf61d9ee9f4812a62307e2f49a1f4d</vt:lpwstr>
  </property>
  <property fmtid="{D5CDD505-2E9C-101B-9397-08002B2CF9AE}" pid="3" name="KSOProductBuildVer">
    <vt:lpwstr>1033-12.2.0.17153</vt:lpwstr>
  </property>
</Properties>
</file>